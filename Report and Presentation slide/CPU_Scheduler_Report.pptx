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15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5C4BB5"/>
          </a:solidFill>
          <a:ln w="12700">
            <a:solidFill>
              <a:srgbClr val="5C4B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Process Dispatcher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Scheduling Algorithms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DA4A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8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CS3521 — Operating Systems Assignment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Presentation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5720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987552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316736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6 source files connect and depend on each other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4BB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457200" cy="868680"/>
          </a:xfrm>
          <a:prstGeom prst="rect">
            <a:avLst/>
          </a:prstGeom>
          <a:solidFill>
            <a:srgbClr val="5C4BB5"/>
          </a:solidFill>
          <a:ln w="12700">
            <a:solidFill>
              <a:srgbClr val="5C4B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488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1993392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process.h — PCB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322576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field in the Process Control Block and its role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4BB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457200" cy="868680"/>
          </a:xfrm>
          <a:prstGeom prst="rect">
            <a:avLst/>
          </a:prstGeom>
          <a:solidFill>
            <a:srgbClr val="5C4BB5"/>
          </a:solidFill>
          <a:ln w="12700">
            <a:solidFill>
              <a:srgbClr val="5C4B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1546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2999232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 (queue.c)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328416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Singly linked list: enqueue, dequeue, O(1) operations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5F3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31920"/>
            <a:ext cx="457200" cy="868680"/>
          </a:xfrm>
          <a:prstGeom prst="rect">
            <a:avLst/>
          </a:prstGeom>
          <a:solidFill>
            <a:srgbClr val="D95F3B"/>
          </a:solidFill>
          <a:ln w="12700">
            <a:solidFill>
              <a:srgbClr val="D95F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6052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7240" y="4005072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Dispatcher loop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334256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5-step per-tick cycle that drives the whole simulation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9B2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457200" cy="868680"/>
          </a:xfrm>
          <a:prstGeom prst="rect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1430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57800" y="987552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switching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1316736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pointer swap implements context switching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7A4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20240"/>
            <a:ext cx="457200" cy="8686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1488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57800" y="1993392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algorithms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57800" y="2322576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FCFS, Round Robin, SJF, Priority — differences explained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26080"/>
            <a:ext cx="4572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1546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57800" y="2999232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57800" y="3328416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waiting time and turnaround time are tracked and printed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Structure &amp; Dependencies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process.h is the foundation — every other file includes it. The Makefile compiles all three .c files in one command.</a:t>
            </a:r>
            <a:endParaRPr lang="en-US" sz="1250" dirty="0"/>
          </a:p>
        </p:txBody>
      </p:sp>
      <p:pic>
        <p:nvPicPr>
          <p:cNvPr id="5" name="Image 0" descr="/home/claude/pptx_proj/diag_file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2880" y="868680"/>
            <a:ext cx="87782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Process Control Block — process.h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process is represented by one PCB on the heap. remainingTicks counts down to zero; *next links it into the queue.</a:t>
            </a:r>
            <a:endParaRPr lang="en-US" sz="1250" dirty="0"/>
          </a:p>
        </p:txBody>
      </p:sp>
      <p:pic>
        <p:nvPicPr>
          <p:cNvPr id="5" name="Image 0" descr="/home/claude/pptx_proj/diag_pcb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2880" y="868680"/>
            <a:ext cx="87782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process.h — Full Source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023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795528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#ifndef </a:t>
            </a:r>
            <a:r>
              <a:rPr lang="en-US" sz="14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PROCESS_H
</a:t>
            </a: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#define </a:t>
            </a:r>
            <a:r>
              <a:rPr lang="en-US" sz="14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PROCESS_H
</a:t>
            </a: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typedef struct </a:t>
            </a:r>
            <a:r>
              <a:rPr lang="en-US" sz="140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PCB {
</a:t>
            </a: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</a:t>
            </a:r>
            <a:r>
              <a:rPr lang="en-US" sz="14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pid</a:t>
            </a:r>
            <a:r>
              <a:rPr lang="en-US" sz="14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              </a:t>
            </a:r>
            <a:r>
              <a:rPr lang="en-US" sz="14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unique process ID
</a:t>
            </a: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</a:t>
            </a:r>
            <a:r>
              <a:rPr lang="en-US" sz="14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arrivalTime</a:t>
            </a:r>
            <a:r>
              <a:rPr lang="en-US" sz="14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     </a:t>
            </a:r>
            <a:r>
              <a:rPr lang="en-US" sz="14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tick when created
</a:t>
            </a: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</a:t>
            </a:r>
            <a:r>
              <a:rPr lang="en-US" sz="14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maxTicks</a:t>
            </a:r>
            <a:r>
              <a:rPr lang="en-US" sz="14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        </a:t>
            </a:r>
            <a:r>
              <a:rPr lang="en-US" sz="14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total CPU time needed
</a:t>
            </a: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</a:t>
            </a:r>
            <a:r>
              <a:rPr lang="en-US" sz="140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remainingTicks</a:t>
            </a:r>
            <a:r>
              <a:rPr lang="en-US" sz="14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  </a:t>
            </a:r>
            <a:r>
              <a:rPr lang="en-US" sz="14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counts down — 0 = done  ★
</a:t>
            </a: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</a:t>
            </a:r>
            <a:r>
              <a:rPr lang="en-US" sz="14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priority</a:t>
            </a:r>
            <a:r>
              <a:rPr lang="en-US" sz="14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        </a:t>
            </a:r>
            <a:r>
              <a:rPr lang="en-US" sz="14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lower = higher priority
</a:t>
            </a: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</a:t>
            </a:r>
            <a:r>
              <a:rPr lang="en-US" sz="14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waitingTime</a:t>
            </a:r>
            <a:r>
              <a:rPr lang="en-US" sz="14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     </a:t>
            </a:r>
            <a:r>
              <a:rPr lang="en-US" sz="14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ticks spent in queue
</a:t>
            </a: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</a:t>
            </a:r>
            <a:r>
              <a:rPr lang="en-US" sz="14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turnaroundTime</a:t>
            </a:r>
            <a:r>
              <a:rPr lang="en-US" sz="14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  </a:t>
            </a:r>
            <a:r>
              <a:rPr lang="en-US" sz="14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set when process finishes
</a:t>
            </a: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struct PCB </a:t>
            </a:r>
            <a:r>
              <a:rPr lang="en-US" sz="140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*next</a:t>
            </a:r>
            <a:r>
              <a:rPr lang="en-US" sz="14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        </a:t>
            </a:r>
            <a:r>
              <a:rPr lang="en-US" sz="14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linked list pointer  ★
</a:t>
            </a:r>
            <a:r>
              <a:rPr lang="en-US" sz="14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 </a:t>
            </a:r>
            <a:r>
              <a:rPr lang="en-US" sz="140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PCB</a:t>
            </a:r>
            <a:r>
              <a:rPr lang="en-US" sz="14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
</a:t>
            </a:r>
            <a:r>
              <a:rPr lang="en-US" sz="14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#endif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Queue — Singly Linked List (queue.c)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 pointer enables O(1) dequeue. rear pointer enables O(1) enqueue. No array scanning ever needed.</a:t>
            </a:r>
            <a:endParaRPr lang="en-US" sz="1250" dirty="0"/>
          </a:p>
        </p:txBody>
      </p:sp>
      <p:pic>
        <p:nvPicPr>
          <p:cNvPr id="5" name="Image 0" descr="/home/claude/pptx_proj/diag_queu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2880" y="868680"/>
            <a:ext cx="87782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queue.c — Key Operations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023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3931920" cy="411480"/>
          </a:xfrm>
          <a:prstGeom prst="rect">
            <a:avLst/>
          </a:prstGeom>
          <a:solidFill>
            <a:srgbClr val="028090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enqueue()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3383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</a:t>
            </a:r>
            <a:r>
              <a:rPr lang="en-US" sz="130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enqueue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(Queue *q, PCB *p) {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p-&gt;next = </a:t>
            </a:r>
            <a:r>
              <a:rPr lang="en-US" sz="13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NULL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
</a:t>
            </a: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 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(q-&gt;rear == NULL) {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q-&gt;front = q-&gt;rear = p;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return;
  }
</a:t>
            </a:r>
            <a:r>
              <a:rPr lang="en-US" sz="130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q-&gt;rear-&gt;next = p;
</a:t>
            </a:r>
            <a:r>
              <a:rPr lang="en-US" sz="130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q-&gt;rear = p;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777240"/>
            <a:ext cx="4297680" cy="4023360"/>
          </a:xfrm>
          <a:prstGeom prst="rect">
            <a:avLst/>
          </a:prstGeom>
          <a:solidFill>
            <a:srgbClr val="1A1A2E"/>
          </a:solidFill>
          <a:ln w="12700">
            <a:solidFill>
              <a:srgbClr val="5C4B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777240"/>
            <a:ext cx="4297680" cy="411480"/>
          </a:xfrm>
          <a:prstGeom prst="rect">
            <a:avLst/>
          </a:prstGeom>
          <a:solidFill>
            <a:srgbClr val="5C4BB5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dequeue()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1280160"/>
            <a:ext cx="4023360" cy="3383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PCB* </a:t>
            </a:r>
            <a:r>
              <a:rPr lang="en-US" sz="130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dequeue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(Queue *q) {
</a:t>
            </a: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 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(q-&gt;front == NULL)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</a:t>
            </a:r>
            <a:r>
              <a:rPr lang="en-US" sz="13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NULL;
</a:t>
            </a:r>
            <a:r>
              <a:rPr lang="en-US" sz="130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PCB *temp = q-&gt;front;
</a:t>
            </a:r>
            <a:r>
              <a:rPr lang="en-US" sz="130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q-&gt;front = q-&gt;front-&gt;next;
</a:t>
            </a: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 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(q-&gt;front == NULL)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q-&gt;rear = NULL;
</a:t>
            </a: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</a:t>
            </a:r>
            <a:r>
              <a:rPr lang="en-US" sz="13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temp;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Dispatcher Loop — dispatcher.c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ordered steps execute every tick. The loop runs until doneCount == simSize (all processes finished).</a:t>
            </a:r>
            <a:endParaRPr lang="en-US" sz="1250" dirty="0"/>
          </a:p>
        </p:txBody>
      </p:sp>
      <p:pic>
        <p:nvPicPr>
          <p:cNvPr id="5" name="Image 0" descr="/home/claude/pptx_proj/diag_loop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2880" y="868680"/>
            <a:ext cx="87782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Switch — How It Really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pointer reassignment: runningProcess = nextProcess. The preempted PCB is re-queued with its remainingTicks preserved.</a:t>
            </a:r>
            <a:endParaRPr lang="en-US" sz="1250" dirty="0"/>
          </a:p>
        </p:txBody>
      </p:sp>
      <p:pic>
        <p:nvPicPr>
          <p:cNvPr id="5" name="Image 0" descr="/home/claude/pptx_proj/diag_context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2880" y="868680"/>
            <a:ext cx="87782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Switch — The 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023360"/>
          </a:xfrm>
          <a:prstGeom prst="rect">
            <a:avLst/>
          </a:prstGeom>
          <a:solidFill>
            <a:srgbClr val="1A1A2E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/* Step 2 of each tick — scheduling decision + context switch */
</a:t>
            </a: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PCB </a:t>
            </a:r>
            <a:r>
              <a:rPr lang="en-US" sz="13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*prev 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= runningProcess;   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remember who was running
</a:t>
            </a: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(choice == ALG_RR) {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runningProcess = </a:t>
            </a:r>
            <a:r>
              <a:rPr lang="en-US" sz="130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RoundRobin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(readyQueue, runningProcess, TIME_SLICE, &amp;rrCounter);
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/* RoundRobin re-queues the old process if slice expired:
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enqueue(readyQueue, runningProcess);  ← saves state
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return dequeue(readyQueue);           ← picks next    */
</a:t>
            </a: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 else if 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(choice == ALG_FCFS) {
</a:t>
            </a: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(runningProcess == NULL)  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non-preemptive: only switch when idle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runningProcess = </a:t>
            </a:r>
            <a:r>
              <a:rPr lang="en-US" sz="130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FCFS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(readyQueue);
}
</a:t>
            </a: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(runningProcess != prev &amp;&amp; runningProcess != NULL)
</a:t>
            </a:r>
            <a:r>
              <a:rPr lang="en-US" sz="130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  -&gt; Context switch: P%d dispatched\n", runningProcess-&gt;pid);
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Four Scheduling Algorithms — Compared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FCFS and RR use dequeue() directly. SJF and Priority scan the entire queue to extract the best candidate.</a:t>
            </a:r>
            <a:endParaRPr lang="en-US" sz="1250" dirty="0"/>
          </a:p>
        </p:txBody>
      </p:sp>
      <p:pic>
        <p:nvPicPr>
          <p:cNvPr id="5" name="Image 0" descr="/home/claude/pptx_proj/diag_algorithm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2880" y="868680"/>
            <a:ext cx="87782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 Robin — scheduler.c (the only preemptive algorithm)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023360"/>
          </a:xfrm>
          <a:prstGeom prst="rect">
            <a:avLst/>
          </a:prstGeom>
          <a:solidFill>
            <a:srgbClr val="1A1A2E"/>
          </a:solidFill>
          <a:ln w="12700">
            <a:solidFill>
              <a:srgbClr val="5C4B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PCB* </a:t>
            </a:r>
            <a:r>
              <a:rPr lang="en-US" sz="130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RoundRobin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(Queue *q, PCB *running, int timeSlice, int *counter) {
</a:t>
            </a: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(running != NULL) {
</a:t>
            </a:r>
            <a:r>
              <a:rPr lang="en-US" sz="130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(*counter)++;                  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tick used this slice
</a:t>
            </a:r>
            <a:r>
              <a:rPr lang="en-US" sz="130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(*counter &gt;= timeSlice) {    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slice expired → preempt!
</a:t>
            </a:r>
            <a:r>
              <a:rPr lang="en-US" sz="13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*counter = 0;
</a:t>
            </a:r>
            <a:r>
              <a:rPr lang="en-US" sz="13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enqueue(q, running);        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re-queue with state preserved
</a:t>
            </a:r>
            <a:r>
              <a:rPr lang="en-US" sz="130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 dequeue(q);           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pick next in line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running;                 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still within slice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*counter = 0;                       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fresh start
</a:t>
            </a:r>
            <a:r>
              <a:rPr lang="en-US" sz="130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dequeue(q);                  </a:t>
            </a:r>
            <a:r>
              <a:rPr lang="en-US" sz="130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CPU was idle
</a:t>
            </a:r>
            <a:r>
              <a:rPr lang="en-US" sz="130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SJF &amp; Priority — Queue Scanning + Node Removal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023360"/>
          </a:xfrm>
          <a:prstGeom prst="rect">
            <a:avLst/>
          </a:prstGeom>
          <a:solidFill>
            <a:srgbClr val="1A1A2E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749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PCB* </a:t>
            </a:r>
            <a:r>
              <a:rPr lang="en-US" sz="1250" dirty="0">
                <a:solidFill>
                  <a:srgbClr val="61AFE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ShortestJobFirst</a:t>
            </a:r>
            <a:r>
              <a:rPr lang="en-US" sz="12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(Queue *q) {
</a:t>
            </a:r>
            <a:r>
              <a:rPr lang="en-US" sz="12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</a:t>
            </a:r>
            <a:r>
              <a:rPr lang="en-US" sz="12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(isEmpty(q)) return NULL;
</a:t>
            </a:r>
            <a:r>
              <a:rPr lang="en-US" sz="125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/* Pass 1: find the node with fewest remaining ticks */
</a:t>
            </a:r>
            <a:r>
              <a:rPr lang="en-US" sz="125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PCB *shortest = q-&gt;front, *cur = q-&gt;front-&gt;next;
</a:t>
            </a:r>
            <a:r>
              <a:rPr lang="en-US" sz="12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while </a:t>
            </a:r>
            <a:r>
              <a:rPr lang="en-US" sz="12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(cur) {
</a:t>
            </a:r>
            <a:r>
              <a:rPr lang="en-US" sz="12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</a:t>
            </a:r>
            <a:r>
              <a:rPr lang="en-US" sz="12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(cur-&gt;remainingTicks &lt; shortest-&gt;remainingTicks)
</a:t>
            </a:r>
            <a:r>
              <a:rPr lang="en-US" sz="12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shortest = cur;
</a:t>
            </a:r>
            <a:r>
              <a:rPr lang="en-US" sz="12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cur = cur-&gt;next;
    }
</a:t>
            </a:r>
            <a:r>
              <a:rPr lang="en-US" sz="125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/* Pass 2: re-link queue around the chosen node */
</a:t>
            </a:r>
            <a:r>
              <a:rPr lang="en-US" sz="1250" dirty="0">
                <a:solidFill>
                  <a:srgbClr val="E5C0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PCB *prev = NULL; cur = q-&gt;front;
</a:t>
            </a:r>
            <a:r>
              <a:rPr lang="en-US" sz="12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while </a:t>
            </a:r>
            <a:r>
              <a:rPr lang="en-US" sz="12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(cur != shortest) { prev = cur; cur = cur-&gt;next; }
</a:t>
            </a:r>
            <a:r>
              <a:rPr lang="en-US" sz="12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</a:t>
            </a:r>
            <a:r>
              <a:rPr lang="en-US" sz="12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(prev) prev-&gt;next = shortest-&gt;next;
</a:t>
            </a:r>
            <a:r>
              <a:rPr lang="en-US" sz="1250" dirty="0">
                <a:solidFill>
                  <a:srgbClr val="98C3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else   q-&gt;front   = shortest-&gt;next;    </a:t>
            </a:r>
            <a:r>
              <a:rPr lang="en-US" sz="1250" i="1" dirty="0">
                <a:solidFill>
                  <a:srgbClr val="5C637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was at front
</a:t>
            </a:r>
            <a:r>
              <a:rPr lang="en-US" sz="1250" dirty="0">
                <a:solidFill>
                  <a:srgbClr val="C678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</a:t>
            </a:r>
            <a:r>
              <a:rPr lang="en-US" sz="12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(q-&gt;rear == shortest) q-&gt;rear = prev;
</a:t>
            </a:r>
            <a:r>
              <a:rPr lang="en-US" sz="12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shortest-&gt;next = NULL;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shortest;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BB2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Statistics — Waiting Time &amp; Turnaround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 accumulate live during the simulation. printStats() outputs a formatted table with per-process and average values.</a:t>
            </a:r>
            <a:endParaRPr lang="en-US" sz="1250" dirty="0"/>
          </a:p>
        </p:txBody>
      </p:sp>
      <p:pic>
        <p:nvPicPr>
          <p:cNvPr id="5" name="Image 0" descr="/home/claude/pptx_proj/diag_stat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2880" y="868680"/>
            <a:ext cx="877824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40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097280"/>
            <a:ext cx="29260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841248" y="11338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process.h</a:t>
            </a:r>
            <a:endParaRPr lang="en-US" sz="16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3108960" y="1133856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PCB struct with 8 fields — the identity card of every process</a:t>
            </a:r>
            <a:endParaRPr lang="en-US" sz="15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457200" y="1719072"/>
            <a:ext cx="292608" cy="438912"/>
          </a:xfrm>
          <a:prstGeom prst="rect">
            <a:avLst/>
          </a:prstGeom>
          <a:solidFill>
            <a:srgbClr val="5C4BB5"/>
          </a:solidFill>
          <a:ln w="12700">
            <a:solidFill>
              <a:srgbClr val="5C4BB5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841248" y="175564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4B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queue.c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3108960" y="175564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Singly linked list — O(1) enqueue at rear, O(1) dequeue at front</a:t>
            </a:r>
            <a:endParaRPr lang="en-US" sz="150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57200" y="2340864"/>
            <a:ext cx="292608" cy="438912"/>
          </a:xfrm>
          <a:prstGeom prst="rect">
            <a:avLst/>
          </a:prstGeom>
          <a:solidFill>
            <a:srgbClr val="E09B2D"/>
          </a:solidFill>
          <a:ln w="12700">
            <a:solidFill>
              <a:srgbClr val="E09B2D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841248" y="23774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9B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scheduler.c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3108960" y="237744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algorithms — only Step 2 of the dispatcher loop changes</a:t>
            </a:r>
            <a:endParaRPr lang="en-US" sz="1500" dirty="0"/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457200" y="2962656"/>
            <a:ext cx="292608" cy="438912"/>
          </a:xfrm>
          <a:prstGeom prst="rect">
            <a:avLst/>
          </a:prstGeom>
          <a:solidFill>
            <a:srgbClr val="D95F3B"/>
          </a:solidFill>
          <a:ln w="12700">
            <a:solidFill>
              <a:srgbClr val="D95F3B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841248" y="299923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5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dispatcher.c</a:t>
            </a:r>
            <a:endParaRPr lang="en-US" sz="16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3108960" y="299923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5-step per-tick loop — arrivals → decision → wait → execute → sleep</a:t>
            </a:r>
            <a:endParaRPr lang="en-US" sz="150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57200" y="3584448"/>
            <a:ext cx="292608" cy="43891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841248" y="362102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7A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switch</a:t>
            </a:r>
            <a:endParaRPr lang="en-US" sz="16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3108960" y="3621024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pointer swap: runningProcess = nextProcess; state stays in PCB</a:t>
            </a:r>
            <a:endParaRPr lang="en-US" sz="150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841248" y="424281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20"/>
          <p:cNvSpPr/>
          <p:nvPr>
            <p:custDataLst>
              <p:tags r:id="rId17"/>
            </p:custDataLst>
          </p:nvPr>
        </p:nvSpPr>
        <p:spPr>
          <a:xfrm>
            <a:off x="3108960" y="4242816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2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3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4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5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6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7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8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9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10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11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12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13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14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15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16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ags/tag17.xml><?xml version="1.0" encoding="utf-8"?>
<p:tagLst xmlns:p="http://schemas.openxmlformats.org/presentationml/2006/main">
  <p:tag name="KSO_WM_DIAGRAM_VIRTUALLY_FRAME" val="{&quot;height&quot;:279.36,&quot;left&quot;:36,&quot;top&quot;:86.4,&quot;width&quot;:65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4990</Words>
  <Application>WPS Presentation</Application>
  <PresentationFormat>On-screen Show (16:9)</PresentationFormat>
  <Paragraphs>130</Paragraphs>
  <Slides>15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Process Dispatcher &amp; Scheduler</dc:title>
  <dc:creator>CS3521</dc:creator>
  <dc:subject>PptxGenJS Presentation</dc:subject>
  <cp:lastModifiedBy>pc</cp:lastModifiedBy>
  <cp:revision>3</cp:revision>
  <dcterms:created xsi:type="dcterms:W3CDTF">2026-04-26T14:39:00Z</dcterms:created>
  <dcterms:modified xsi:type="dcterms:W3CDTF">2026-04-27T17:07:17Z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E00C88920D174A54AC59301DE8491450_12</vt:lpwstr>
  </property>
  <property fmtid="{D5CDD505-2E9C-101B-9397-08002B2CF9AE}" pid="3" name="KSOProductBuildVer">
    <vt:lpwstr>1033-12.2.0.23196</vt:lpwstr>
  </property>
</Properties>
</file>